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SMART SURPLUS FOOD REDISTRIBUTION PLATFORM • UN SDG 2 &amp; 12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AnnaSetu AI</a:t>
            </a:r>
          </a:p>
          <a:p>
            <a:pPr>
              <a:spcAft>
                <a:spcPts val="1800"/>
              </a:spcAft>
              <a:defRPr sz="2400">
                <a:solidFill>
                  <a:srgbClr val="A7F3D0"/>
                </a:solidFill>
              </a:defRPr>
            </a:pPr>
            <a:r>
              <a:t>Smart Surplus Food Redistribution Platform</a:t>
            </a:r>
          </a:p>
          <a:p>
            <a:pPr>
              <a:spcAft>
                <a:spcPts val="2800"/>
              </a:spcAft>
              <a:defRPr sz="1800" i="1">
                <a:solidFill>
                  <a:srgbClr val="FFFFFF"/>
                </a:solidFill>
              </a:defRPr>
            </a:pPr>
            <a:r>
              <a:t>“Share More. Waste Less. Feed Hope.”</a:t>
            </a:r>
          </a:p>
          <a:p>
            <a:pPr>
              <a:defRPr sz="1300" b="1">
                <a:solidFill>
                  <a:srgbClr val="FEF3C7"/>
                </a:solidFill>
              </a:defRPr>
            </a:pPr>
            <a:r>
              <a:t>Global Goals Alignment: SDG 2 (Zero Hunger) &amp; SDG 12 (Responsible Consumption &amp; Production)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The Challenge: Urban Food Waste vs. Hunger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F1239"/>
                </a:solidFill>
              </a:defRPr>
            </a:pPr>
            <a:r>
              <a:t>The Reality in Urban India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50+ Million Tonnes of edible food discarded in Indian urban centers annually.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Commercial Banquets, Hotels, and College Hostels routinely prepare 15–25% surplus that gets dumped.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Landfill Food Decomposition emits potent Methane (CH4) greenhouse gas, exacerbating climate degradation.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Meanwhile, millions in urban shelters, child relief centers, and slums face daily nutritional deficits.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Why Existing Methods Fail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Lack of Digital Coordination: Kitchens rely on ad-hoc phone calls during late-night closing hours.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Food Safety Liabilities: Donors fear litigation without strict temperature holding parameters &amp; legal declarations.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Mismatched Batch Sizes: Large banquets overwhelm small local shelters, while large community kitchens get insufficient batches.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Logistical Bottlenecks: Absence of organized, verified volunteer courier networks with insulated thermal carriers.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The Solution: AnnaSetu AI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4E3B"/>
                </a:solidFill>
              </a:defRPr>
            </a:pPr>
            <a:r>
              <a:t>1. Food Donors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Post surplus batches in seconds.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AI Smart Suggestions auto-fill category, detect allergens, and enhance packaging notes.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Review proximity match recommendations with transparent scores.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Approve recipient reservation requests.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Monitor real-time pickup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</a:defRPr>
            </a:pPr>
            <a:r>
              <a:t>2. Recipient Charities (NGOs)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Browse catalog within service radius.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AI Natural Language Query parser (e.g. '50 veg meals for dinner in Indiranagar').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Reserve batches capped by daily shelter distribution capacity.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Accreditation Security Gate: Unverified NGOs locked until 12A/80G/Darpan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21A8"/>
                </a:solidFill>
              </a:defRPr>
            </a:pPr>
            <a:r>
              <a:t>3. Volunteer Couriers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Browse city-wide unassigned runs.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Claim runs &amp; access route details.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4-Stage Delivery State Machine: ASSIGNED → ACCEPTED → PICKED_UP → COMPLETED.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FSSAI Thermal Carrier Pledge: hot (≥60°C) and chilled (≤5°C)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Alignment with United Nations Sustainable Development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SDG 2: Zero Hunger (Target 2.1 &amp; 2.2)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Direct Channel to Verified Shelters: Wholesome meals are redirected from hotel banquets directly into community dining halls.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Capacity-Aware Allocation: Batch sizes match recipient intake capability, guaranteeing food is consumed rather than re-wasted.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Allergen &amp; Dietary Safeguards: Protects vulnerable beneficiaries through explicit disclosure of nuts, dairy, gluten, and vegan/jain attributes.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Real-Time Plate Tracking: Quantifies exact nutritional impact through SQL-aggregated servings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4E3B"/>
                </a:solidFill>
              </a:defRPr>
            </a:pPr>
            <a:r>
              <a:t>SDG 12: Responsible Consumption (Target 12.3)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Commercial Kitchen Waste Reduction: Establishes institutional discipline in hotels, hostels, and caterers.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Landfill Methane Prevention: Edible organic matter diverted from rotting in open municipal dump sites.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Carbon &amp; Kilogram Measurement: Direct SQL computation of total kilograms diverted from municipal waste streams.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Circular Urban Food Economy: Demonstrates a replicable blueprint for smart, zero-waste metropolitan centers.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Production-Grade Full-Stack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4864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Technology Selection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Engineering Rationale &amp; Capabilities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Frontend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React 19 + TypeScript + Vite + Tailwind CSS 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High-performance reactive UI with type safety, accessible design, and Recharts impact analytics.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Backend Framework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Python 3.12/3.14 + FastAPI + Pydantic v2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Asynchronous high-throughput REST APIs, strict schema validation, automated OpenAPI docs (/docs).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Database &amp;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SQLAlchemy 2.0 ORM + Alembic + SQLite/Postgres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Relational data integrity, schema migration tracking, and row-level locking (SELECT FOR UPDATE).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Security &amp; 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Argon2 + HS256 JWT + Google Gemini Python SDK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Cryptographic password hashing, stateless token authorization, and resilient AI with deterministic fallbacks.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Core Technical Innovations &amp; Engineering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4E3B"/>
                </a:solidFill>
              </a:defRPr>
            </a:pPr>
            <a:r>
              <a:t>1. FSSAI Conservative Safety Protocol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Safety rules strictly override raw AI predictions.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Enforces hot-holding (≥60°C) and refrigerated (≤5°C) constraints.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Mandatory legal food safety declarations required before posting.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2. Transparent Proximity Matching (0–100)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Haversine Geodesic Distance Formula (≤ 40 points).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Shelter Daily Distribution Capacity Fit (≤ 30 points).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Schedule Urgency Window (≤ 20 pts) &amp; Dietary Match (≤ 10 pts).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F1239"/>
                </a:solidFill>
              </a:defRPr>
            </a:pPr>
            <a:r>
              <a:t>3. Concurrency &amp; Atomic Inventory Locking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Database row-level transactions (SELECT FOR UPDATE).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Eliminates race conditions and over-allocation across multiple NGOs.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Zero double-booking guarantee under concurrent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21A8"/>
                </a:solidFill>
              </a:defRPr>
            </a:pPr>
            <a:r>
              <a:t>4. 4-Stage Volunteer Delivery State Machine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Auditable transitions: ASSIGNED → ACCEPTED → PICKED_UP → COMPLETED.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Thermal container hygiene validation and courier transit notes.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Real-time notifications dispatched to all participants.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Google Gemini AI Co-Pilot with Deterministic Fallbacks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4E3B"/>
                </a:solidFill>
              </a:defRPr>
            </a:pPr>
            <a:r>
              <a:t>A. Auto-Categorization &amp; Allergen Detection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Reads meal titles and descriptions to classify category.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Detects allergens (Dairy, Gluten, Peanuts, Eggs, Soy).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Recommends thermal holding protocol (hot_holding / refrigerated).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</a:defRPr>
            </a:pPr>
            <a:r>
              <a:t>B. Listing Quality Enhancement Co-Pilot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Computes listing completeness score (0 to 100).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Generates structured packaging and hygiene improvement advice.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Prompts donors for missing storage or handling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C. Natural Language Search Parser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Translates conversational queries into structured SQL filters.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e.g. 'Need 50 veg meals for dinner in Indiranagar' → category='prepared_meals', dietary='vegetarian', urgency=True.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21A8"/>
                </a:solidFill>
              </a:defRPr>
            </a:pPr>
            <a:r>
              <a:t>D. 100% Deterministic Resilient Fallback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Zero single-point-of-failure: if Gemini API is unset or throttled, built-in rule engines take over instantly.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Full functionality maintained offline or without cloud API keys.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Quality Assurance: 100% Automated Test Suite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</a:defRPr>
            </a:pPr>
            <a:r>
              <a:t>Backend Automated Pytest Suite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17 / 17 Tests Passing (100% Green).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Authentication &amp; Cryptography: Argon2 hashing, JWT validity.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RBAC Security: Strict role isolation across all protected APIs.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Accreditation Gate: Unverified NGOs blocked from live requests.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Input Validation: Past deadlines and negative quantities rejected.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Concurrency: Atomic inventory locking prevents double-booking.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State Machine: Couriers restricted to valid status transitions.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Live E2E Test: Validates complete donor-to-beneficiary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4E3B"/>
                </a:solidFill>
              </a:defRPr>
            </a:pPr>
            <a:r>
              <a:t>Frontend &amp; Code Quality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TypeScript Strict Mode: 0 Compilation Errors.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Production Build: Verified with npm run build (1.53s build time).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UI / UX Design Standards: Responsive across desktop, tablet, and mobile.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Data Visualization: Live Recharts graphs powered by database SQL.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Tamper-Evident Audit Ledger: Append-only ledger recording all events.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Security Best Practices: GEMINI_API_KEY never exposed in frontend bundle.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Platform Demonstration &amp; Pre-Seeded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645920"/>
                <a:gridCol w="466344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Persona / Role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Login Email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Walkthrough Focus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Central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admin@annasetu.ai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Admin@123456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Review NGO verifications, triage safety reports, audit immutable system ledger.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Hotel Food Donor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donor.taj@annasetu.ai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Demo@123456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Post surplus food with AI co-pilot, review proximity match scores, accept requests.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Verified NGO Shelter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ngo.hope@annasetu.ai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Demo@123456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Natural language AI search, reserve surplus batches within daily shelter capacity.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Volunteer Courier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volunteer.rahul@annasetu.ai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Demo@123456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Claim unassigned runs, advance delivery stages (ASSIGNED → COMPLETED).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UN SDG 2 &amp; 12 | ANNASETU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4E3B"/>
                </a:solidFill>
              </a:defRPr>
            </a:pPr>
            <a:r>
              <a:t>Project Impact &amp; Summary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Transforms food waste into dignified meals for vulnerable citizens.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Proves that full-stack web engineering &amp; responsible AI can solve humanitarian logistics bottlenecks.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Strict adherence to FSSAI standards guarantees trust, hygiene, and accountability.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Measurable acceleration of UN SDG 2 (Zero Hunger) &amp; SDG 12 (Responsible Consumption).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Fully functional, demonstrable, and academic presentation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Future Engineering Roadmap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ONDC Logistics Protocol: Open network integration for automated third-party delivery dispatch.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IoT Cold-Chain Sensors: Bluetooth Low Energy (BLE) temperature beacons logging transit compliance in real time.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Regional Voice Interface: AI conversational co-pilot in Kannada, Hindi, and Tamil for kitchen staff.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•  Predictive Surplus Forecasting: Machine learning models predicting meal surplus before events conclude.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